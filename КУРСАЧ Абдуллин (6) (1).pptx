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73" r:id="rId3"/>
    <p:sldId id="257" r:id="rId4"/>
    <p:sldId id="258" r:id="rId5"/>
    <p:sldId id="27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68" r:id="rId17"/>
    <p:sldId id="271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20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36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96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1808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898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90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745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78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98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8204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135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9880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636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543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095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98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-9184.host-ai.sit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55C57-B64B-433C-B686-A24AD67E8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671" y="3195516"/>
            <a:ext cx="914400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dirty="0"/>
              <a:t>Проектирование информационной системы «Онлайн-казино»</a:t>
            </a:r>
            <a:br>
              <a:rPr lang="ru-RU" sz="4400" dirty="0"/>
            </a:b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/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F8D99C-9FB7-47A4-B589-E695E2BF6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6601" y="4740153"/>
            <a:ext cx="8915399" cy="1126283"/>
          </a:xfrm>
        </p:spPr>
        <p:txBody>
          <a:bodyPr>
            <a:noAutofit/>
          </a:bodyPr>
          <a:lstStyle/>
          <a:p>
            <a:pPr algn="r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Абдуллин И.Р.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 курса очной формы обучения,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ИСиП 25-11-1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Проверила: Гончарова Т.В., должность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 проф. дисциплин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919412" y="569894"/>
            <a:ext cx="7781925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Государственное автономное профессиональное учреждение </a:t>
            </a:r>
            <a:b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Тюменской области </a:t>
            </a:r>
            <a:b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«ТЮМЕНСКИЙ ТЕХНИКУМ СТРОИТЕЛЬНОЙ ИНДУСТРИИ И ГОРОДСКОГО ХОЗЯЙСТВА»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025835" y="6361083"/>
            <a:ext cx="2140330" cy="390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г. Тюмень, 2026 г.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84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ПРЕДМЕТНОЙ ОБЛАСТИ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Онлайн-казино — игровая платформа с регистрацией, пополнением счета, игровыми раундами и выводом средств.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сущности: игрок, аккаунт, игра, транзакция, выплата, служба безопасности, крупье.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Требования: защита данных, быстрые выплаты, контроль возраста и честности.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498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EDAC8-195F-4771-B7A8-19E2CCFE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Актуальность и цель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C29BDB-21E2-4B8A-A182-A4C2E8D41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Рост легальных онлайн-казино в РФ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Спрос на быстрые выплаты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персональных данных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спроектировать ИС для онлайн-казино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679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E08FC-D4F8-42E6-B173-A8D162FA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Задачи курсового проекта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BC552F-8904-49B9-9A91-8E38C0079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Анализ аналогов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Построение IDEF0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Построение DFD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Построение UML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Проектирование БД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Разработка интерфейса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800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89212" y="1662113"/>
            <a:ext cx="8915400" cy="3777622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Утечки персональных данных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Юридические риски в РФ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Задержки выплат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Непрозрачность игровых результатов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Мошенничество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Игровая зависимость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219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2CC22-7CBB-490B-8D25-200CA9FC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Слайд 4. Сравнение систем-аналогов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8584D30-6054-4BD1-AED0-0E386C5CF6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6041379"/>
              </p:ext>
            </p:extLst>
          </p:nvPr>
        </p:nvGraphicFramePr>
        <p:xfrm>
          <a:off x="2592925" y="2999468"/>
          <a:ext cx="8915401" cy="2407920"/>
        </p:xfrm>
        <a:graphic>
          <a:graphicData uri="http://schemas.openxmlformats.org/drawingml/2006/table">
            <a:tbl>
              <a:tblPr/>
              <a:tblGrid>
                <a:gridCol w="1905307">
                  <a:extLst>
                    <a:ext uri="{9D8B030D-6E8A-4147-A177-3AD203B41FA5}">
                      <a16:colId xmlns:a16="http://schemas.microsoft.com/office/drawing/2014/main" val="2537572276"/>
                    </a:ext>
                  </a:extLst>
                </a:gridCol>
                <a:gridCol w="2336698">
                  <a:extLst>
                    <a:ext uri="{9D8B030D-6E8A-4147-A177-3AD203B41FA5}">
                      <a16:colId xmlns:a16="http://schemas.microsoft.com/office/drawing/2014/main" val="1413916465"/>
                    </a:ext>
                  </a:extLst>
                </a:gridCol>
                <a:gridCol w="2336698">
                  <a:extLst>
                    <a:ext uri="{9D8B030D-6E8A-4147-A177-3AD203B41FA5}">
                      <a16:colId xmlns:a16="http://schemas.microsoft.com/office/drawing/2014/main" val="2517847390"/>
                    </a:ext>
                  </a:extLst>
                </a:gridCol>
                <a:gridCol w="2336698">
                  <a:extLst>
                    <a:ext uri="{9D8B030D-6E8A-4147-A177-3AD203B41FA5}">
                      <a16:colId xmlns:a16="http://schemas.microsoft.com/office/drawing/2014/main" val="588832479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Критерий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effectLst/>
                          <a:latin typeface="quote-cjk-patch"/>
                        </a:rPr>
                        <a:t>Vulkan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effectLst/>
                          <a:latin typeface="quote-cjk-patch"/>
                        </a:rPr>
                        <a:t>JoyCasino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effectLst/>
                          <a:latin typeface="quote-cjk-patch"/>
                        </a:rPr>
                        <a:t>Pin-Up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08945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Скорость вывода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1-3 дня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до 24 ч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1-2 дня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600224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Бонусная система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агрессивная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средняя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прозрачная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8515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Чат поддержки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24/7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304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585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2F0D1-069F-4DB5-92F8-108E9F915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Контекстная диаграмма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IDEF0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BA8853-B328-4A2B-AEBE-4161D5E1A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702" y="5628854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1 — Контекстная диаграмма IDEF0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FB1025-2D5D-4741-BDB0-495A4B37F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666" y="1446633"/>
            <a:ext cx="4837436" cy="418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34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01B730-462A-41A4-B38F-42D3DFC54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Декомпозиция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IDEF0 (A1–A4)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A335E-1755-4F45-A16B-1ECA648ED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6609" y="5106956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2 — Диаграмма декомпозиции IDEF0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F37C9C-D4F8-4B98-8F72-FCFF82880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577" y="1434375"/>
            <a:ext cx="7061848" cy="367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01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F63F32-F3B8-4418-A2F7-24C9D733D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Контекстная диаграмма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DFD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DA9F01-D6A9-4018-9969-73397CD53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494" y="4339982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3 — Контекстная диаграмма DFD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45" y="2365864"/>
            <a:ext cx="9683731" cy="190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06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A12A7A-E8EC-42A0-A20E-2038F6D48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/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Декомпозиция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DFD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2DAD9E-FDA0-4B76-9394-6A907FC55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1963" y="5697833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4 — Диаграмма декомпозиции DFD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B7A358-8666-42A0-909D-D868E48A5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649" y="1905000"/>
            <a:ext cx="6767804" cy="379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89EDA8-F7B7-40B8-A28E-4E2ADE408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663" y="193287"/>
            <a:ext cx="8911687" cy="128089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вариантов </a:t>
            </a:r>
            <a:r>
              <a:rPr lang="ru-RU" b="1" dirty="0" smtClean="0">
                <a:solidFill>
                  <a:srgbClr val="0F1115"/>
                </a:solidFill>
                <a:effectLst/>
                <a:latin typeface="quote-cjk-patch"/>
              </a:rPr>
              <a:t>использования </a:t>
            </a:r>
            <a:r>
              <a:rPr lang="en-US" b="1" dirty="0" smtClean="0">
                <a:solidFill>
                  <a:srgbClr val="0F1115"/>
                </a:solidFill>
                <a:effectLst/>
                <a:latin typeface="quote-cjk-patch"/>
              </a:rPr>
              <a:t>Use</a:t>
            </a:r>
            <a:r>
              <a:rPr lang="ru-RU" b="1" dirty="0" err="1" smtClean="0">
                <a:solidFill>
                  <a:srgbClr val="0F1115"/>
                </a:solidFill>
                <a:effectLst/>
                <a:latin typeface="quote-cjk-patch"/>
              </a:rPr>
              <a:t>Case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68B0AE-8763-479B-BB56-14751E33C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102" y="5719550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5 — Диаграмма вариантов использования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94C8A9-F8E1-47A4-8C26-ACFD4CFBD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955" y="1264555"/>
            <a:ext cx="5050583" cy="445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41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A7286-4245-45DB-A597-C239AF96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последовательности (часть 1)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06B277-545C-4F00-A6F7-B6FDDEE5D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7555" y="5391424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6 — Диаграмма последовательности (шаги 1–10)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EDF125-BF01-4B53-A871-05FBAE931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943" y="1466576"/>
            <a:ext cx="5468113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7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669335-4E96-49AD-A968-7BACF39D7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900" y="0"/>
            <a:ext cx="8911687" cy="1280890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последовательности (часть 2)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E8DE42-406A-46A4-8391-4060AC818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7556" y="6164424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7 — Диаграмма последовательности (шаги 10–20)</a:t>
            </a:r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404A69-AC8B-4311-A93A-F68BE8543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417" y="1327830"/>
            <a:ext cx="5487166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48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003CB-BFF9-402D-9C3B-133197E05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деятельности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5B2867-0875-4C22-8F5D-673709EAC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3121" y="5640542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8 — Диаграмма деятельности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359" y="1327570"/>
            <a:ext cx="4366817" cy="431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32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BF1684-33CF-4FE1-8FF0-1AA2826F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03" y="81776"/>
            <a:ext cx="8911687" cy="1280890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Э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скизы интерфейса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3A2E15-7978-4598-A85E-2D5459D4E1F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18" y="23020"/>
            <a:ext cx="4950479" cy="29787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60201D-2772-4508-B78F-F4F3640D88E8}"/>
              </a:ext>
            </a:extLst>
          </p:cNvPr>
          <p:cNvSpPr txBox="1"/>
          <p:nvPr/>
        </p:nvSpPr>
        <p:spPr>
          <a:xfrm>
            <a:off x="3485155" y="6304688"/>
            <a:ext cx="60981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СТРАНИЦА СЛОТА</a:t>
            </a:r>
            <a:endParaRPr lang="ru-RU" sz="1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2A0D464-B7F2-47F6-9F43-D00769C32D9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359"/>
            <a:ext cx="4950479" cy="30062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34BC71-2772-4EDE-B93E-7DDB7F0E3E69}"/>
              </a:ext>
            </a:extLst>
          </p:cNvPr>
          <p:cNvSpPr txBox="1"/>
          <p:nvPr/>
        </p:nvSpPr>
        <p:spPr>
          <a:xfrm>
            <a:off x="1879829" y="3667393"/>
            <a:ext cx="6511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СТРАНИЦА ВХОДА</a:t>
            </a:r>
            <a:endParaRPr lang="ru-RU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50A71F-0594-451D-87E4-CCD50AB89126}"/>
              </a:ext>
            </a:extLst>
          </p:cNvPr>
          <p:cNvSpPr txBox="1"/>
          <p:nvPr/>
        </p:nvSpPr>
        <p:spPr>
          <a:xfrm>
            <a:off x="5083983" y="340582"/>
            <a:ext cx="6511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СТРАНИЦА РЕГИСТРАЦИИ</a:t>
            </a:r>
            <a:endParaRPr lang="ru-RU" sz="14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ADE7F5E-6E7B-45E1-843C-24ABD137B2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337" y="3183465"/>
            <a:ext cx="586588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6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3A01D3-918E-47D9-BE57-109C4ADCB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Результаты работы и заключение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5BA764-D249-40B3-A8E2-4293F2FAE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Выполнено:</a:t>
            </a:r>
            <a:endParaRPr lang="ru-RU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Модели IDEF0, DFD, UML (8 диаграмм)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База данных (3 модели)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Эскизы интерфейса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Техническое задание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Руководство пользователя</a:t>
            </a:r>
          </a:p>
          <a:p>
            <a:pPr algn="l"/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Заключение: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система спроектирована, готова к реализации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6866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88457-EB75-4157-B990-F3116AAC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A2F4D3-5060-4226-AF11-B2B8FC9B6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рамках курсового проекта спроектирована информационная система для онлайн-казино «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NovaSpin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Royale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». Проведён анализ предметной области, выделены ключевые сущности: игрок, аккаунт, игра, игровой раунд, транзакция, выплата, сотрудник службы безопасности, крупье. Построены функциональные модели IDEF0 и DFD, а также UML-диаграммы: вариантов использования, последовательности, деятельности, классов. Разработаны концептуальная, логическая и физическая модели базы данных. Созданы эскизы пользовательского интерфейса: главная страница, страница входа и регистрации, игровое поле. Результаты работы могут быть использованы для разработки реальной игровой платформы в учебных или коммерческих целях.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9383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8D8E1F-A070-46FB-B998-4B4F7E47C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Спасибо за внимание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D30C0-7F83-4C5F-BBEF-3DC291F37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sz="3200" b="1" i="0" dirty="0">
                <a:solidFill>
                  <a:srgbClr val="0F1115"/>
                </a:solidFill>
                <a:effectLst/>
                <a:latin typeface="quote-cjk-patch"/>
              </a:rPr>
              <a:t>Доклад окончен.</a:t>
            </a:r>
            <a:br>
              <a:rPr lang="ru-RU" sz="3200" b="1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3200" b="1" i="0" dirty="0">
                <a:solidFill>
                  <a:srgbClr val="0F1115"/>
                </a:solidFill>
                <a:effectLst/>
                <a:latin typeface="quote-cjk-patch"/>
              </a:rPr>
              <a:t>Готов ответить на вопросы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307170" y="3791578"/>
            <a:ext cx="61780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0F1115"/>
                </a:solidFill>
                <a:latin typeface="quote-cjk-patch"/>
              </a:rPr>
              <a:t>Ссылка на сайт</a:t>
            </a:r>
            <a:r>
              <a:rPr lang="en-US" sz="2400" b="1" dirty="0" smtClean="0">
                <a:solidFill>
                  <a:srgbClr val="0F1115"/>
                </a:solidFill>
                <a:latin typeface="quote-cjk-patch"/>
              </a:rPr>
              <a:t>:</a:t>
            </a:r>
            <a:r>
              <a:rPr lang="en-US" u="sng" dirty="0">
                <a:hlinkClick r:id="rId2"/>
              </a:rPr>
              <a:t> </a:t>
            </a:r>
            <a:r>
              <a:rPr lang="en-US" sz="2000" dirty="0">
                <a:hlinkClick r:id="rId2"/>
              </a:rPr>
              <a:t>https://site-9184.host-ai.site/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08530365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TM02892315[[fn=Легкий дым]]</Template>
  <TotalTime>138</TotalTime>
  <Words>460</Words>
  <Application>Microsoft Office PowerPoint</Application>
  <PresentationFormat>Широкоэкранный</PresentationFormat>
  <Paragraphs>82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Calibri</vt:lpstr>
      <vt:lpstr>Century Gothic</vt:lpstr>
      <vt:lpstr>quote-cjk-patch</vt:lpstr>
      <vt:lpstr>Times New Roman</vt:lpstr>
      <vt:lpstr>Wingdings 3</vt:lpstr>
      <vt:lpstr>Легкий дым</vt:lpstr>
      <vt:lpstr>Проектирование информационной системы «Онлайн-казино»   </vt:lpstr>
      <vt:lpstr>ОПИСАНИЕ ПРЕДМЕТНОЙ ОБЛАСТИ</vt:lpstr>
      <vt:lpstr>Актуальность и цель </vt:lpstr>
      <vt:lpstr>Задачи курсового проекта </vt:lpstr>
      <vt:lpstr>ПРОБЛЕМАТИКА</vt:lpstr>
      <vt:lpstr>Слайд 4. Сравнение систем-аналогов </vt:lpstr>
      <vt:lpstr>Контекстная диаграмма IDEF0 </vt:lpstr>
      <vt:lpstr>Декомпозиция IDEF0 (A1–A4) </vt:lpstr>
      <vt:lpstr>Контекстная диаграмма DFD </vt:lpstr>
      <vt:lpstr> Декомпозиция DFD </vt:lpstr>
      <vt:lpstr>Диаграмма вариантов использования UseCase) </vt:lpstr>
      <vt:lpstr>Диаграмма последовательности (часть 1) </vt:lpstr>
      <vt:lpstr>Диаграмма последовательности (часть 2)</vt:lpstr>
      <vt:lpstr>Диаграмма деятельности </vt:lpstr>
      <vt:lpstr>Эскизы интерфейса </vt:lpstr>
      <vt:lpstr>Результаты работы и заключение </vt:lpstr>
      <vt:lpstr>ЗАКЛЮЧЕНИЕ</vt:lpstr>
      <vt:lpstr>Спасибо за внимание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информационной системы «Онлайн-казино»</dc:title>
  <dc:creator>Idel Abdullin</dc:creator>
  <cp:lastModifiedBy>Student</cp:lastModifiedBy>
  <cp:revision>20</cp:revision>
  <dcterms:created xsi:type="dcterms:W3CDTF">2026-05-13T21:18:14Z</dcterms:created>
  <dcterms:modified xsi:type="dcterms:W3CDTF">2026-05-14T10:55:02Z</dcterms:modified>
</cp:coreProperties>
</file>