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71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11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8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0200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5368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4961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1808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898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5909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7450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7836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982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48204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91359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19880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9636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8543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8095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988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55C57-B64B-433C-B686-A24AD67E8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5184" y="1875033"/>
            <a:ext cx="9144000" cy="23876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Проектирование информационной системы «Онлайн-казино»</a:t>
            </a:r>
            <a:br>
              <a:rPr lang="ru-RU" dirty="0"/>
            </a:b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6F8D99C-9FB7-47A4-B589-E695E2BF62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9523" y="4771158"/>
            <a:ext cx="8915399" cy="1126283"/>
          </a:xfrm>
        </p:spPr>
        <p:txBody>
          <a:bodyPr>
            <a:normAutofit/>
          </a:bodyPr>
          <a:lstStyle/>
          <a:p>
            <a:pPr algn="r"/>
            <a:r>
              <a:rPr lang="ru-RU" sz="20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Абдуллин И.Р.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ИСиП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25-11-1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384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6EDAC8-195F-4771-B7A8-19E2CCFE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Актуальность и цель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C29BDB-21E2-4B8A-A182-A4C2E8D41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Рост легальных онлайн-казино в РФ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Спрос на быстрые выплаты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Защита персональных данных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спроектировать ИС для онлайн-казино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6791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0E08FC-D4F8-42E6-B173-A8D162FA9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Задачи курсового проекта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BC552F-8904-49B9-9A91-8E38C0079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Анализ аналогов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Построение IDEF0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Построение DFD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Построение UML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Проектирование БД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Разработка интерфейса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8006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32CC22-7CBB-490B-8D25-200CA9FC0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Слайд 4. Сравнение систем-аналогов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C8584D30-6054-4BD1-AED0-0E386C5CF6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6041379"/>
              </p:ext>
            </p:extLst>
          </p:nvPr>
        </p:nvGraphicFramePr>
        <p:xfrm>
          <a:off x="2592925" y="2999468"/>
          <a:ext cx="8915401" cy="2133600"/>
        </p:xfrm>
        <a:graphic>
          <a:graphicData uri="http://schemas.openxmlformats.org/drawingml/2006/table">
            <a:tbl>
              <a:tblPr/>
              <a:tblGrid>
                <a:gridCol w="1905307">
                  <a:extLst>
                    <a:ext uri="{9D8B030D-6E8A-4147-A177-3AD203B41FA5}">
                      <a16:colId xmlns:a16="http://schemas.microsoft.com/office/drawing/2014/main" val="2537572276"/>
                    </a:ext>
                  </a:extLst>
                </a:gridCol>
                <a:gridCol w="2336698">
                  <a:extLst>
                    <a:ext uri="{9D8B030D-6E8A-4147-A177-3AD203B41FA5}">
                      <a16:colId xmlns:a16="http://schemas.microsoft.com/office/drawing/2014/main" val="1413916465"/>
                    </a:ext>
                  </a:extLst>
                </a:gridCol>
                <a:gridCol w="2336698">
                  <a:extLst>
                    <a:ext uri="{9D8B030D-6E8A-4147-A177-3AD203B41FA5}">
                      <a16:colId xmlns:a16="http://schemas.microsoft.com/office/drawing/2014/main" val="2517847390"/>
                    </a:ext>
                  </a:extLst>
                </a:gridCol>
                <a:gridCol w="2336698">
                  <a:extLst>
                    <a:ext uri="{9D8B030D-6E8A-4147-A177-3AD203B41FA5}">
                      <a16:colId xmlns:a16="http://schemas.microsoft.com/office/drawing/2014/main" val="588832479"/>
                    </a:ext>
                  </a:extLst>
                </a:gridCol>
              </a:tblGrid>
              <a:tr h="464820"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Критерий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effectLst/>
                          <a:latin typeface="quote-cjk-patch"/>
                        </a:rPr>
                        <a:t>Vulkan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effectLst/>
                          <a:latin typeface="quote-cjk-patch"/>
                        </a:rPr>
                        <a:t>JoyCasino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effectLst/>
                          <a:latin typeface="quote-cjk-patch"/>
                        </a:rPr>
                        <a:t>Pin-Up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08945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Скорость вывода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1-3 дня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до 24 ч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1-2 дня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00224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Бонусная система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агрессивная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прозрачная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785150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Чат поддержки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есть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есть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24/7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304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5585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2F0D1-069F-4DB5-92F8-108E9F915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Контекстная диаграмма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IDEF0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BA8853-B328-4A2B-AEBE-4161D5E1A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7702" y="5628854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1 — Контекстная диаграмма IDEF0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2FB1025-2D5D-4741-BDB0-495A4B37F9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666" y="1446633"/>
            <a:ext cx="4837436" cy="4182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34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01B730-462A-41A4-B38F-42D3DFC54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Декомпозиция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IDEF0 (A1–A4)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0A335E-1755-4F45-A16B-1ECA648ED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36609" y="5106956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2 — Диаграмма декомпозиции IDEF0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F37C9C-D4F8-4B98-8F72-FCFF82880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577" y="1434375"/>
            <a:ext cx="7061848" cy="3672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00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F63F32-F3B8-4418-A2F7-24C9D733D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Контекстная диаграмма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DFD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DA9F01-D6A9-4018-9969-73397CD53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4878" y="5887429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3 — Контекстная диаграмма DFD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DDF7428-7BC2-45A2-B19C-B2C53EE7A5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876" y="1305904"/>
            <a:ext cx="6867525" cy="458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06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A12A7A-E8EC-42A0-A20E-2038F6D48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Декомпозиция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DFD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2DAD9E-FDA0-4B76-9394-6A907FC55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1963" y="5697833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4 — Диаграмма декомпозиции DFD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B7A358-8666-42A0-909D-D868E48A5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9649" y="1905000"/>
            <a:ext cx="6767804" cy="3792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13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89EDA8-F7B7-40B8-A28E-4E2ADE408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вариантов использования (</a:t>
            </a:r>
            <a:r>
              <a:rPr lang="ru-RU" b="1" dirty="0" err="1">
                <a:solidFill>
                  <a:srgbClr val="0F1115"/>
                </a:solidFill>
                <a:effectLst/>
                <a:latin typeface="quote-cjk-patch"/>
              </a:rPr>
              <a:t>Use</a:t>
            </a:r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 Case)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68B0AE-8763-479B-BB56-14751E33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8102" y="5719550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5 — Диаграмма вариантов использования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094C8A9-F8E1-47A4-8C26-ACFD4CFBD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9955" y="1264555"/>
            <a:ext cx="5050583" cy="4454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8412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5A7286-4245-45DB-A597-C239AF966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последовательности (часть 1)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06B277-545C-4F00-A6F7-B6FDDEE5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7555" y="5391424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6 — Диаграмма последовательности (шаги 1–10)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CEDF125-BF01-4B53-A871-05FBAE931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943" y="1466576"/>
            <a:ext cx="5468113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876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669335-4E96-49AD-A968-7BACF39D7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последовательности (часть 2)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E8DE42-406A-46A4-8391-4060AC818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7556" y="6164424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7 — Диаграмма последовательности (шаги 10–20)</a:t>
            </a:r>
            <a:endParaRPr lang="ru-RU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D404A69-AC8B-4311-A93A-F68BE8543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417" y="1327830"/>
            <a:ext cx="5487166" cy="490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483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2003CB-BFF9-402D-9C3B-133197E05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деятельности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5B2867-0875-4C22-8F5D-673709EAC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121" y="5640542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8 — Диаграмма деятельности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5CB6E56-A86B-4177-AA21-3D3DF8017D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8249" y="1264555"/>
            <a:ext cx="4479515" cy="442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0327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BF1684-33CF-4FE1-8FF0-1AA2826F2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403" y="81776"/>
            <a:ext cx="8911687" cy="1280890"/>
          </a:xfrm>
        </p:spPr>
        <p:txBody>
          <a:bodyPr/>
          <a:lstStyle/>
          <a:p>
            <a:r>
              <a:rPr lang="ru-RU" b="1" dirty="0">
                <a:solidFill>
                  <a:srgbClr val="0F1115"/>
                </a:solidFill>
                <a:latin typeface="quote-cjk-patch"/>
              </a:rPr>
              <a:t>Э</a:t>
            </a:r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скизы интерфейса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13A2E15-7978-4598-A85E-2D5459D4E1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018" y="23020"/>
            <a:ext cx="4950479" cy="29787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60201D-2772-4508-B78F-F4F3640D88E8}"/>
              </a:ext>
            </a:extLst>
          </p:cNvPr>
          <p:cNvSpPr txBox="1"/>
          <p:nvPr/>
        </p:nvSpPr>
        <p:spPr>
          <a:xfrm>
            <a:off x="3832094" y="6304688"/>
            <a:ext cx="609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СТРАНИЦА СЛОТА</a:t>
            </a:r>
            <a:endParaRPr lang="ru-RU" sz="14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2A0D464-B7F2-47F6-9F43-D00769C32D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8359"/>
            <a:ext cx="4950479" cy="30062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34BC71-2772-4EDE-B93E-7DDB7F0E3E69}"/>
              </a:ext>
            </a:extLst>
          </p:cNvPr>
          <p:cNvSpPr txBox="1"/>
          <p:nvPr/>
        </p:nvSpPr>
        <p:spPr>
          <a:xfrm>
            <a:off x="3468801" y="3604365"/>
            <a:ext cx="65111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СТРАНИЦА ВХОДА</a:t>
            </a:r>
            <a:endParaRPr lang="ru-RU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50A71F-0594-451D-87E4-CCD50AB89126}"/>
              </a:ext>
            </a:extLst>
          </p:cNvPr>
          <p:cNvSpPr txBox="1"/>
          <p:nvPr/>
        </p:nvSpPr>
        <p:spPr>
          <a:xfrm>
            <a:off x="5083983" y="340582"/>
            <a:ext cx="65111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СТРАНИЦА РЕГИСТРАЦИИ</a:t>
            </a:r>
            <a:endParaRPr lang="ru-RU" sz="14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ADE7F5E-6E7B-45E1-843C-24ABD137B2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0337" y="3183465"/>
            <a:ext cx="5865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861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3A01D3-918E-47D9-BE57-109C4ADCB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Результаты работы и заключение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5BA764-D249-40B3-A8E2-4293F2FAE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Выполнено:</a:t>
            </a:r>
            <a:endParaRPr lang="ru-RU" sz="2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Модели IDEF0, DFD, UML (8 диаграмм)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База данных (3 модели)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Эскизы интерфейса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Техническое задание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Руководство пользователя</a:t>
            </a:r>
          </a:p>
          <a:p>
            <a:pPr algn="l"/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Заключение: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 система спроектирована, готова к реализации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86866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D88457-EB75-4157-B990-F3116AAC4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A2F4D3-5060-4226-AF11-B2B8FC9B6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 рамках курсового проекта спроектирована информационная система для онлайн-казино «</a:t>
            </a:r>
            <a:r>
              <a:rPr lang="ru-RU" sz="180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NovaSpin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Royale</a:t>
            </a:r>
            <a:r>
              <a:rPr lang="ru-RU" sz="180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». Проведён анализ предметной области, выделены ключевые сущности: игрок, аккаунт, игра, игровой раунд, транзакция, выплата, сотрудник службы безопасности, крупье. Построены функциональные модели IDEF0 и DFD, а также UML-диаграммы: вариантов использования, последовательности, деятельности, классов. Разработаны концептуальная, логическая и физическая модели базы данных. Созданы эскизы пользовательского интерфейса: главная страница, страница входа и регистрации, игровое поле. Результаты работы могут быть использованы для разработки реальной игровой платформы в учебных или коммерческих целях.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193832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8D8E1F-A070-46FB-B998-4B4F7E47C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Спасибо за внимание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7ED30C0-7F83-4C5F-BBEF-3DC291F37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ru-RU" sz="3200" b="1" i="0" dirty="0">
                <a:solidFill>
                  <a:srgbClr val="0F1115"/>
                </a:solidFill>
                <a:effectLst/>
                <a:latin typeface="quote-cjk-patch"/>
              </a:rPr>
              <a:t>Доклад окончен.</a:t>
            </a:r>
            <a:br>
              <a:rPr lang="ru-RU" sz="3200" b="1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sz="3200" b="1" i="0" dirty="0">
                <a:solidFill>
                  <a:srgbClr val="0F1115"/>
                </a:solidFill>
                <a:effectLst/>
                <a:latin typeface="quote-cjk-patch"/>
              </a:rPr>
              <a:t>Готов ответить на вопросы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8530365"/>
      </p:ext>
    </p:extLst>
  </p:cSld>
  <p:clrMapOvr>
    <a:masterClrMapping/>
  </p:clrMapOvr>
</p:sld>
</file>

<file path=ppt/theme/theme1.xml><?xml version="1.0" encoding="utf-8"?>
<a:theme xmlns:a="http://schemas.openxmlformats.org/drawingml/2006/main" name="Легкий дым">
  <a:themeElements>
    <a:clrScheme name="Легкий дым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Легкий дым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Легкий дым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TM02892315[[fn=Легкий дым]]</Template>
  <TotalTime>71</TotalTime>
  <Words>349</Words>
  <Application>Microsoft Office PowerPoint</Application>
  <PresentationFormat>Широкоэкранный</PresentationFormat>
  <Paragraphs>64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2" baseType="lpstr">
      <vt:lpstr>Arial</vt:lpstr>
      <vt:lpstr>Century Gothic</vt:lpstr>
      <vt:lpstr>quote-cjk-patch</vt:lpstr>
      <vt:lpstr>Times New Roman</vt:lpstr>
      <vt:lpstr>Wingdings 3</vt:lpstr>
      <vt:lpstr>Легкий дым</vt:lpstr>
      <vt:lpstr>Проектирование информационной системы «Онлайн-казино»  </vt:lpstr>
      <vt:lpstr>Актуальность и цель </vt:lpstr>
      <vt:lpstr>Задачи курсового проекта </vt:lpstr>
      <vt:lpstr>Слайд 4. Сравнение систем-аналогов </vt:lpstr>
      <vt:lpstr>Контекстная диаграмма IDEF0 </vt:lpstr>
      <vt:lpstr>Декомпозиция IDEF0 (A1–A4) </vt:lpstr>
      <vt:lpstr>Контекстная диаграмма DFD </vt:lpstr>
      <vt:lpstr> Декомпозиция DFD </vt:lpstr>
      <vt:lpstr>Диаграмма вариантов использования (Use Case) </vt:lpstr>
      <vt:lpstr>Диаграмма последовательности (часть 1) </vt:lpstr>
      <vt:lpstr>Диаграмма последовательности (часть 2)</vt:lpstr>
      <vt:lpstr>Диаграмма деятельности </vt:lpstr>
      <vt:lpstr>Эскизы интерфейса </vt:lpstr>
      <vt:lpstr>Результаты работы и заключение </vt:lpstr>
      <vt:lpstr>ЗАКЛЮЧЕНИЕ</vt:lpstr>
      <vt:lpstr>Спасибо за внимание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информационной системы «Онлайн-казино»  </dc:title>
  <dc:creator>Idel Abdullin</dc:creator>
  <cp:lastModifiedBy>Idel Abdullin</cp:lastModifiedBy>
  <cp:revision>8</cp:revision>
  <dcterms:created xsi:type="dcterms:W3CDTF">2026-05-13T21:18:14Z</dcterms:created>
  <dcterms:modified xsi:type="dcterms:W3CDTF">2026-05-14T07:46:47Z</dcterms:modified>
</cp:coreProperties>
</file>